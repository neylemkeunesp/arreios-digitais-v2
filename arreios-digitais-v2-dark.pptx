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CDD6F4"/>
                </a:solidFill>
              </a:rPr>
              <a:t>section {</a:t>
            </a:r>
          </a:p>
          <a:p>
            <a:r>
              <a:rPr sz="1400" b="0" i="0">
                <a:solidFill>
                  <a:srgbClr val="CDD6F4"/>
                </a:solidFill>
              </a:rPr>
              <a:t>display: flex;</a:t>
            </a:r>
          </a:p>
          <a:p>
            <a:r>
              <a:rPr sz="1400" b="0" i="0">
                <a:solidFill>
                  <a:srgbClr val="CDD6F4"/>
                </a:solidFill>
              </a:rPr>
              <a:t>flex-direction: column;</a:t>
            </a:r>
          </a:p>
          <a:p>
            <a:r>
              <a:rPr sz="1400" b="0" i="0">
                <a:solidFill>
                  <a:srgbClr val="CDD6F4"/>
                </a:solidFill>
              </a:rPr>
              <a:t>justify-content: center;</a:t>
            </a:r>
          </a:p>
          <a:p>
            <a:r>
              <a:rPr sz="1400" b="0" i="0">
                <a:solidFill>
                  <a:srgbClr val="CDD6F4"/>
                </a:solidFill>
              </a:rPr>
              <a:t>align-items: flex-start;</a:t>
            </a:r>
          </a:p>
          <a:p>
            <a:r>
              <a:rPr sz="1400" b="0" i="0">
                <a:solidFill>
                  <a:srgbClr val="CDD6F4"/>
                </a:solidFill>
              </a:rPr>
              <a:t>padding: 0 5%;</a:t>
            </a:r>
          </a:p>
          <a:p>
            <a:r>
              <a:rPr sz="1400" b="0" i="0">
                <a:solidFill>
                  <a:srgbClr val="CDD6F4"/>
                </a:solidFill>
              </a:rPr>
              <a:t>}</a:t>
            </a:r>
          </a:p>
          <a:p>
            <a:r>
              <a:rPr sz="1400" b="0" i="0">
                <a:solidFill>
                  <a:srgbClr val="CDD6F4"/>
                </a:solidFill>
              </a:rPr>
              <a:t>.eyebrow { color: #94e2d5; font-size: 0.7em; letter-spacing: 0.2em; text-transform: uppercase; margin-bottom: 0.4em; }</a:t>
            </a:r>
          </a:p>
          <a:p>
            <a:r>
              <a:rPr sz="1400" b="0" i="0">
                <a:solidFill>
                  <a:srgbClr val="CDD6F4"/>
                </a:solidFill>
              </a:rPr>
              <a:t>h1 { color: #cdd6f4 !important; font-size: 3.2em; line-height: 1.1; margin: 0 0 0.05em 0; }</a:t>
            </a:r>
          </a:p>
          <a:p>
            <a:r>
              <a:rPr sz="1400" b="0" i="0">
                <a:solidFill>
                  <a:srgbClr val="CDD6F4"/>
                </a:solidFill>
              </a:rPr>
              <a:t>h1 em { color: #89b4fa; font-style: normal; font-weight: 400; font-size: 0.6em; display: block; margin-top: 0.15em; }</a:t>
            </a:r>
          </a:p>
          <a:p>
            <a:r>
              <a:rPr sz="1400" b="0" i="0">
                <a:solidFill>
                  <a:srgbClr val="CDD6F4"/>
                </a:solidFill>
              </a:rPr>
              <a:t>.tag { color: #fab387; font-size: 1.1em; margin-top: 0.4em; }</a:t>
            </a:r>
          </a:p>
          <a:p>
            <a:r>
              <a:rPr sz="1400" b="0" i="0">
                <a:solidFill>
                  <a:srgbClr val="CDD6F4"/>
                </a:solidFill>
              </a:rPr>
              <a:t>.lede { color: #bac2de; font-size: 1.1em; margin-top: 0.8em; max-width: 70%; }</a:t>
            </a:r>
          </a:p>
          <a:p>
            <a:r>
              <a:rPr sz="1400" b="0" i="0">
                <a:solidFill>
                  <a:srgbClr val="CDD6F4"/>
                </a:solidFill>
              </a:rPr>
              <a:t>.author { color: #6c7086; font-size: 0.7em; margin-top: 2.5em; letter-spacing: 0.05em; }</a:t>
            </a:r>
          </a:p>
          <a:p/>
          <a:p/>
          <a:p>
            <a:r>
              <a:rPr sz="1400" b="0" i="0">
                <a:solidFill>
                  <a:srgbClr val="CDD6F4"/>
                </a:solidFill>
              </a:rPr>
              <a:t>Harness Engineering · 2026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# Arreios Digitais</a:t>
            </a:r>
          </a:p>
          <a:p>
            <a:r>
              <a:rPr sz="1400" b="0" i="0">
                <a:solidFill>
                  <a:srgbClr val="CDD6F4"/>
                </a:solidFill>
              </a:rPr>
              <a:t># Autoadaptativos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Um assistente que aprende com você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O Hermes, suas skills, e como o harness de um agente virou a alavanca mais importante da engenharia de IA.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Ney Lemke · CIO UNESP · CTInf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que um LLM cru não faz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Um modelo de linguagem treinado não é um agente. Ele: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1. Esquece tudo entre conversas — começa do zero a cada prompt</a:t>
            </a:r>
          </a:p>
          <a:p>
            <a:r>
              <a:rPr sz="1400" b="0" i="0">
                <a:solidFill>
                  <a:srgbClr val="CDD6F4"/>
                </a:solidFill>
              </a:rPr>
              <a:t>2. Não vê seus arquivos — não tem filesystem, não tem contexto de projeto</a:t>
            </a:r>
          </a:p>
          <a:p>
            <a:r>
              <a:rPr sz="1400" b="0" i="0">
                <a:solidFill>
                  <a:srgbClr val="CDD6F4"/>
                </a:solidFill>
              </a:rPr>
              <a:t>3. Não executa ações — não roda comandos, não lê e-mail, não agenda reunião</a:t>
            </a:r>
          </a:p>
          <a:p>
            <a:r>
              <a:rPr sz="1400" b="0" i="0">
                <a:solidFill>
                  <a:srgbClr val="CDD6F4"/>
                </a:solidFill>
              </a:rPr>
              <a:t>4. Alucina com confiança — inventa paths, APIs, fatos, clientes</a:t>
            </a:r>
          </a:p>
          <a:p>
            <a:r>
              <a:rPr sz="1400" b="0" i="0">
                <a:solidFill>
                  <a:srgbClr val="CDD6F4"/>
                </a:solidFill>
              </a:rPr>
              <a:t>5. Não aprende com erros — amanhã repete o mesmo bug de hoje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Sem ajuda externa, o LLM é um autocomplete glorificado.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LLMs → Harness: a virada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De usar LLM como ferramenta a construir LLM como agente num sistema que orquestra.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Antes (v1) | Agora (v2) |</a:t>
            </a:r>
          </a:p>
          <a:p>
            <a:r>
              <a:rPr sz="1400" b="0" i="0">
                <a:solidFill>
                  <a:srgbClr val="CDD6F4"/>
                </a:solidFill>
              </a:rPr>
              <a:t>|---|---|</a:t>
            </a:r>
          </a:p>
          <a:p>
            <a:r>
              <a:rPr sz="1400" b="0" i="0">
                <a:solidFill>
                  <a:srgbClr val="CDD6F4"/>
                </a:solidFill>
              </a:rPr>
              <a:t>| Skills isoladas por ferramenta | Skill libraries com padronização agentskills.io |</a:t>
            </a:r>
          </a:p>
          <a:p>
            <a:r>
              <a:rPr sz="1400" b="0" i="0">
                <a:solidFill>
                  <a:srgbClr val="CDD6F4"/>
                </a:solidFill>
              </a:rPr>
              <a:t>| Gateway Telegram único | Gateway multiplex servindo 6+ canais (Telegram, Slack, Discord, WhatsApp, Signal, CLI) |</a:t>
            </a:r>
          </a:p>
          <a:p>
            <a:r>
              <a:rPr sz="1400" b="0" i="0">
                <a:solidFill>
                  <a:srgbClr val="CDD6F4"/>
                </a:solidFill>
              </a:rPr>
              <a:t>| "Faz o prompt direito" | Harness Engineering virou a 4ª paradigma da engenharia de IA |</a:t>
            </a:r>
          </a:p>
          <a:p>
            <a:r>
              <a:rPr sz="1400" b="0" i="0">
                <a:solidFill>
                  <a:srgbClr val="CDD6F4"/>
                </a:solidFill>
              </a:rPr>
              <a:t>| Autoedição ad-hoc | Ratchet pattern: cada falha vira nova regra versionada |</a:t>
            </a:r>
          </a:p>
          <a:p>
            <a:r>
              <a:rPr sz="1400" b="0" i="0">
                <a:solidFill>
                  <a:srgbClr val="CDD6F4"/>
                </a:solidFill>
              </a:rPr>
              <a:t>| 1 agente por tarefa | Sub-agentes, planejamento recursivo, loops Ralph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De "como eu ensino o modelo" → "como eu projeto o sistema ao redor do modelo".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Os 5 ingredientes que transformam LLM em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Para cada limite, um ingrediente resolve: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Limite do LLM | Ingrediente que resolve |</a:t>
            </a:r>
          </a:p>
          <a:p>
            <a:r>
              <a:rPr sz="1400" b="0" i="0">
                <a:solidFill>
                  <a:srgbClr val="CDD6F4"/>
                </a:solidFill>
              </a:rPr>
              <a:t>|---|---|</a:t>
            </a:r>
          </a:p>
          <a:p>
            <a:r>
              <a:rPr sz="1400" b="0" i="0">
                <a:solidFill>
                  <a:srgbClr val="CDD6F4"/>
                </a:solidFill>
              </a:rPr>
              <a:t>| Esquece entre conversas | Memória persistente em camadas (3 tiers) |</a:t>
            </a:r>
          </a:p>
          <a:p>
            <a:r>
              <a:rPr sz="1400" b="0" i="0">
                <a:solidFill>
                  <a:srgbClr val="CDD6F4"/>
                </a:solidFill>
              </a:rPr>
              <a:t>| Não vê seus arquivos | Ferramentas — terminal, browser, MCP, file edit |</a:t>
            </a:r>
          </a:p>
          <a:p>
            <a:r>
              <a:rPr sz="1400" b="0" i="0">
                <a:solidFill>
                  <a:srgbClr val="CDD6F4"/>
                </a:solidFill>
              </a:rPr>
              <a:t>| Não executa ações | Skills — procedimentos reutilizáveis versionados |</a:t>
            </a:r>
          </a:p>
          <a:p>
            <a:r>
              <a:rPr sz="1400" b="0" i="0">
                <a:solidFill>
                  <a:srgbClr val="CDD6F4"/>
                </a:solidFill>
              </a:rPr>
              <a:t>| Alucina com confiança | Contexto estruturado (AGENTS.md, contexto da tarefa) |</a:t>
            </a:r>
          </a:p>
          <a:p>
            <a:r>
              <a:rPr sz="1400" b="0" i="0">
                <a:solidFill>
                  <a:srgbClr val="CDD6F4"/>
                </a:solidFill>
              </a:rPr>
              <a:t>| Não aprende com erros | Eval loop — cada falha vira teste, depois regra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Quando esses 5 ingredientes se compõem, o LLM deixa de ser autocomplete e vira ferramenta.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Da combinação nasce o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LLM sozinho = autocomplete.</a:t>
            </a:r>
          </a:p>
          <a:p>
            <a:r>
              <a:rPr sz="1400" b="0" i="0">
                <a:solidFill>
                  <a:srgbClr val="CDD6F4"/>
                </a:solidFill>
              </a:rPr>
              <a:t>LLM + 5 ingredientes = ferramenta útil.</a:t>
            </a:r>
          </a:p>
          <a:p>
            <a:r>
              <a:rPr sz="1400" b="0" i="0">
                <a:solidFill>
                  <a:srgbClr val="CDD6F4"/>
                </a:solidFill>
              </a:rPr>
              <a:t>LLM + 5 ingredientes + orquestração contínua = agente.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Esse sistema ao redor do modelo é o harness. E em 2026, a engenharia de harness virou a alavanca mais importante da IA — 6× mais impacto que trocar o modelo, segundo Stanford/Tsinghua.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A pergunta deixou de ser "qual modelo usar" e virou "como projetar o sistema que envolve o modelo".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meu dia a dia exige mais que um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Sou CIO da UNESP, professor, pesquisador. Minhas demandas misturam domínios que um único LLM nu não dá conta: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Domínio | Exemplo real | Por que o LLM sozinho não basta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|---------|--------------|-------------------------------|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Programação | PRs em Rust, debug de drivers, code review | Precisa ler arquivos, rodar testes, abrir PR |</a:t>
            </a:r>
          </a:p>
          <a:p>
            <a:r>
              <a:rPr sz="1400" b="0" i="0">
                <a:solidFill>
                  <a:srgbClr val="CDD6F4"/>
                </a:solidFill>
              </a:rPr>
              <a:t>| Burocracia | Ofícios à RNP, editais de licitação, convênios | Precisa de templates, prazos, contexto institucional |</a:t>
            </a:r>
          </a:p>
          <a:p>
            <a:r>
              <a:rPr sz="1400" b="0" i="0">
                <a:solidFill>
                  <a:srgbClr val="CDD6F4"/>
                </a:solidFill>
              </a:rPr>
              <a:t>| Física/Matemática | Simulações, equações, papers, notas de aula | Precisa de LaTeX, plots, bibliografia |</a:t>
            </a:r>
          </a:p>
          <a:p>
            <a:r>
              <a:rPr sz="1400" b="0" i="0">
                <a:solidFill>
                  <a:srgbClr val="CDD6F4"/>
                </a:solidFill>
              </a:rPr>
              <a:t>| Bioinformática | Pipelines de sequenciamento, BLAST, phylogenia | Precisa de datasets reais e ferramentas específicas |</a:t>
            </a:r>
          </a:p>
          <a:p>
            <a:r>
              <a:rPr sz="1400" b="0" i="0">
                <a:solidFill>
                  <a:srgbClr val="CDD6F4"/>
                </a:solidFill>
              </a:rPr>
              <a:t>| Gestão/CTInf | Atas, escalas, chamados, planejamento | Precisa de Notion, calendário, mensagens |</a:t>
            </a:r>
          </a:p>
          <a:p>
            <a:r>
              <a:rPr sz="1400" b="0" i="0">
                <a:solidFill>
                  <a:srgbClr val="CDD6F4"/>
                </a:solidFill>
              </a:rPr>
              <a:t>| Sysadmin | Diagnóstico de crash, drivers NVIDIA, network | Precisa de terminal, journald, ssh |</a:t>
            </a:r>
          </a:p>
          <a:p>
            <a:r>
              <a:rPr sz="1400" b="0" i="0">
                <a:solidFill>
                  <a:srgbClr val="CDD6F4"/>
                </a:solidFill>
              </a:rPr>
              <a:t>| Vida financeira | Imposto de renda, investimentos, orçamento pessoal | Precisa de planilhas, regras fiscais atualizadas, contexto familiar |</a:t>
            </a:r>
          </a:p>
          <a:p>
            <a:r>
              <a:rPr sz="1400" b="0" i="0">
                <a:solidFill>
                  <a:srgbClr val="CDD6F4"/>
                </a:solidFill>
              </a:rPr>
              <a:t>| Cultura | Notas sobre cinema, livros, design | Precisa de contexto do meu gosto pessoal |</a:t>
            </a:r>
          </a:p>
          <a:p>
            <a:r>
              <a:rPr sz="1400" b="0" i="0">
                <a:solidFill>
                  <a:srgbClr val="CDD6F4"/>
                </a:solidFill>
              </a:rPr>
              <a:t>| Bots/agentes | Bot Telegram, perfis de agentes | Precisa de long-running processes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Cada linha dessa tabela tem contexto proprietário, ferramentas específicas, e regras que mudam com o tempo. Um único prompt não carrega tudo isso.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Parte 1 — Contexto introdutório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Como chegamos aqui? A IA em 2026 vive quatro ondas simultâneas.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As quatro paradigmas da engenharia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| # | Paradigma | Foco | Quando |</a:t>
            </a:r>
          </a:p>
          <a:p>
            <a:r>
              <a:rPr sz="1400" b="0" i="0">
                <a:solidFill>
                  <a:srgbClr val="CDD6F4"/>
                </a:solidFill>
              </a:rPr>
              <a:t>|---|-----------|------|--------|</a:t>
            </a:r>
          </a:p>
          <a:p>
            <a:r>
              <a:rPr sz="1400" b="0" i="0">
                <a:solidFill>
                  <a:srgbClr val="CDD6F4"/>
                </a:solidFill>
              </a:rPr>
              <a:t>| 1 | Prompt Engineering | Como falar com o modelo | 2022–2023 |</a:t>
            </a:r>
          </a:p>
          <a:p>
            <a:r>
              <a:rPr sz="1400" b="0" i="0">
                <a:solidFill>
                  <a:srgbClr val="CDD6F4"/>
                </a:solidFill>
              </a:rPr>
              <a:t>| 2 | Context Engineering | O que o modelo vê em cada chamada | 2024 |</a:t>
            </a:r>
          </a:p>
          <a:p>
            <a:r>
              <a:rPr sz="1400" b="0" i="0">
                <a:solidFill>
                  <a:srgbClr val="CDD6F4"/>
                </a:solidFill>
              </a:rPr>
              <a:t>| 3 | Agent Engineering | Tools, planning, memory, action | 2024–2025 |</a:t>
            </a:r>
          </a:p>
          <a:p>
            <a:r>
              <a:rPr sz="1400" b="0" i="0">
                <a:solidFill>
                  <a:srgbClr val="CDD6F4"/>
                </a:solidFill>
              </a:rPr>
              <a:t>| 4 | Harness Engineering | O sistema inteiro ao redor do modelo | 2026 →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"Agent = Model + Harness" — Viv Trivedy, 2026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"Harness engineering is the discipline of building the runtime control system around an AI agent." — aibuilderclub.com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Por que importou agora?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- Anthropic publicou "Effective harnesses for long-running agents" (jan/2026)</a:t>
            </a:r>
          </a:p>
          <a:p>
            <a:r>
              <a:rPr sz="1400" b="0" i="0">
                <a:solidFill>
                  <a:srgbClr val="CDD6F4"/>
                </a:solidFill>
              </a:rPr>
              <a:t>- OpenAI escreveu "Harness engineering: leveraging Codex in an agent-first world" (fev/2026) — milionário de linhas de código sem humanos digitando</a:t>
            </a:r>
          </a:p>
          <a:p>
            <a:r>
              <a:rPr sz="1400" b="0" i="0">
                <a:solidFill>
                  <a:srgbClr val="CDD6F4"/>
                </a:solidFill>
              </a:rPr>
              <a:t>- Birgitta Böckeler (Thoughtworks) consolidou em martinfowler.com (fev/2026)</a:t>
            </a:r>
          </a:p>
          <a:p>
            <a:r>
              <a:rPr sz="1400" b="0" i="0">
                <a:solidFill>
                  <a:srgbClr val="CDD6F4"/>
                </a:solidFill>
              </a:rPr>
              <a:t>- Addy Osmani (Google) publicou "Agent Harness Engineering" (mai/2026)</a:t>
            </a:r>
          </a:p>
          <a:p>
            <a:r>
              <a:rPr sz="1400" b="0" i="0">
                <a:solidFill>
                  <a:srgbClr val="CDD6F4"/>
                </a:solidFill>
              </a:rPr>
              <a:t>- Stanford/Tsinghua: 6× de diferença de performance só pelo harness, mesmo modelo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O campo está se institucionalizando em meses, não anos.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que é "harness" exatamente?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&gt; Harness = o sistema que circunda o modelo e decide como ele pensa, planeja, age, percebe contexto, armazena artefatos e se autocorrige.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Componentes canônicos (Lilian Weng, jul/2026):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Componente | Responsabilidade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|------------|-----------------|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Context files (AGENTS.md, CLAUDE.md) | "README para agentes" — convenções, comandos, regras |</a:t>
            </a:r>
          </a:p>
          <a:p>
            <a:r>
              <a:rPr sz="1400" b="0" i="0">
                <a:solidFill>
                  <a:srgbClr val="CDD6F4"/>
                </a:solidFill>
              </a:rPr>
              <a:t>| Skills | Prompts + tools + docs invocáveis sob demanda |</a:t>
            </a:r>
          </a:p>
          <a:p>
            <a:r>
              <a:rPr sz="1400" b="0" i="0">
                <a:solidFill>
                  <a:srgbClr val="CDD6F4"/>
                </a:solidFill>
              </a:rPr>
              <a:t>| Tools/MCP | Interface padronizada com mundo externo |</a:t>
            </a:r>
          </a:p>
          <a:p>
            <a:r>
              <a:rPr sz="1400" b="0" i="0">
                <a:solidFill>
                  <a:srgbClr val="CDD6F4"/>
                </a:solidFill>
              </a:rPr>
              <a:t>| Sub-agents | Divisão de tarefas longas em paralelas |</a:t>
            </a:r>
          </a:p>
          <a:p>
            <a:r>
              <a:rPr sz="1400" b="0" i="0">
                <a:solidFill>
                  <a:srgbClr val="CDD6F4"/>
                </a:solidFill>
              </a:rPr>
              <a:t>| Hooks | Ganchos de validação (pre/post tool use) |</a:t>
            </a:r>
          </a:p>
          <a:p>
            <a:r>
              <a:rPr sz="1400" b="0" i="0">
                <a:solidFill>
                  <a:srgbClr val="CDD6F4"/>
                </a:solidFill>
              </a:rPr>
              <a:t>| Memory/Playbooks | Contexto como playbook que evolui (ACE, MCE) |</a:t>
            </a:r>
          </a:p>
          <a:p>
            <a:r>
              <a:rPr sz="1400" b="0" i="0">
                <a:solidFill>
                  <a:srgbClr val="CDD6F4"/>
                </a:solidFill>
              </a:rPr>
              <a:t>| Eval loop | Verificação automática de qualidade |</a:t>
            </a:r>
          </a:p>
          <a:p>
            <a:r>
              <a:rPr sz="1400" b="0" i="0">
                <a:solidFill>
                  <a:srgbClr val="CDD6F4"/>
                </a:solidFill>
              </a:rPr>
              <a:t>| Sandbox + Permissions | Limites do que o agente pode fazer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A virada: o modelo virou commodity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2018–2024: melhorar o modelo → melhorar tudo.</a:t>
            </a:r>
          </a:p>
          <a:p>
            <a:r>
              <a:rPr sz="1400" b="0" i="0">
                <a:solidFill>
                  <a:srgbClr val="CDD6F4"/>
                </a:solidFill>
              </a:rPr>
              <a:t>2026: melhorar o harness → melhorar tudo.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![width:1000px](assets/model-vs-harness.png)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"The decisive engineering lever has permanently shifted from the model to the system built around it." — masood et al., TechTimes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padrão "ratchet"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![width:1000px](assets/ratchet-pattern.png)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"Every failure becomes a new rule." — Böckeler, martinfowler.com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É a alavanca de alavancagem: cada erro vira uma entrada permanente do playbook. O arreio se ajusta ao terreno depois de cada tropeço.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Caso OpenAI/Codex — 1M de linhas, zero humanas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Ryan Lopopolo, OpenAI (fev/2026):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- 5 meses construindo um produto com 1M linhas</a:t>
            </a:r>
          </a:p>
          <a:p>
            <a:r>
              <a:rPr sz="1400" b="0" i="0">
                <a:solidFill>
                  <a:srgbClr val="CDD6F4"/>
                </a:solidFill>
              </a:rPr>
              <a:t>- 0 linhas escritas por humanos (constraint deliberada)</a:t>
            </a:r>
          </a:p>
          <a:p>
            <a:r>
              <a:rPr sz="1400" b="0" i="0">
                <a:solidFill>
                  <a:srgbClr val="CDD6F4"/>
                </a:solidFill>
              </a:rPr>
              <a:t>- 3 engenheiros mantendo 3,5 PRs/dia cada (subiu para 7 com mesmo ritmo)</a:t>
            </a:r>
          </a:p>
          <a:p>
            <a:r>
              <a:rPr sz="1400" b="0" i="0">
                <a:solidFill>
                  <a:srgbClr val="CDD6F4"/>
                </a:solidFill>
              </a:rPr>
              <a:t>- 1500 PRs mergeados</a:t>
            </a:r>
          </a:p>
          <a:p>
            <a:r>
              <a:rPr sz="1400" b="0" i="0">
                <a:solidFill>
                  <a:srgbClr val="CDD6F4"/>
                </a:solidFill>
              </a:rPr>
              <a:t>- 1/10 do tempo comparado a escrita manual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O trabalho humano migrou de "escrever código" para "projetar o ambiente onde o agente escreve código".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Os 3 loops que importam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Dois padrões de autoaprimoramento dominam 2026: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Loop | Quem usa | Como |</a:t>
            </a:r>
          </a:p>
          <a:p>
            <a:r>
              <a:rPr sz="1400" b="0" i="0">
                <a:solidFill>
                  <a:srgbClr val="CDD6F4"/>
                </a:solidFill>
              </a:rPr>
              <a:t>|------|----------|------|</a:t>
            </a:r>
          </a:p>
          <a:p>
            <a:r>
              <a:rPr sz="1400" b="0" i="0">
                <a:solidFill>
                  <a:srgbClr val="CDD6F4"/>
                </a:solidFill>
              </a:rPr>
              <a:t>| ACE (Agentic Context Engineering) | Anthropic, muitos | Generator → Reflector → Curator mantêm um playbook vivo |</a:t>
            </a:r>
          </a:p>
          <a:p>
            <a:r>
              <a:rPr sz="1400" b="0" i="0">
                <a:solidFill>
                  <a:srgbClr val="CDD6F4"/>
                </a:solidFill>
              </a:rPr>
              <a:t>| MCE (Meta Context Engineering) | Frontier labs | Cruza skills via crossover tipo algoritmo genético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Hermes usa algo próximo do ACE nas skills: cada falha evolui uma SKILL.md em PR.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![bg right:50% w:520](assets/nous-girl-white.png)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# Parte 2 — Hermes: o arreio concreto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De teoria para a implementação que roda no seu laptop.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que é o Hermes em 2026?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- Agente open source MIT (Nous Research), v0.10 → v0.13 (Tenacity Release)</a:t>
            </a:r>
          </a:p>
          <a:p>
            <a:r>
              <a:rPr sz="1400" b="0" i="0">
                <a:solidFill>
                  <a:srgbClr val="CDD6F4"/>
                </a:solidFill>
              </a:rPr>
              <a:t>- 70+ ferramentas built-in, 118 skills bundled</a:t>
            </a:r>
          </a:p>
          <a:p>
            <a:r>
              <a:rPr sz="1400" b="0" i="0">
                <a:solidFill>
                  <a:srgbClr val="CDD6F4"/>
                </a:solidFill>
              </a:rPr>
              <a:t>- 6 canais de messaging num único gateway</a:t>
            </a:r>
          </a:p>
          <a:p>
            <a:r>
              <a:rPr sz="1400" b="0" i="0">
                <a:solidFill>
                  <a:srgbClr val="CDD6F4"/>
                </a:solidFill>
              </a:rPr>
              <a:t>- Compatível com agentskills.io (padrão aberto)</a:t>
            </a:r>
          </a:p>
          <a:p>
            <a:r>
              <a:rPr sz="1400" b="0" i="0">
                <a:solidFill>
                  <a:srgbClr val="CDD6F4"/>
                </a:solidFill>
              </a:rPr>
              <a:t>- Modelo-agnóstico: Anthropic, OpenAI, OpenRouter, local (Ollama)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Lançado em fev/2026, é hoje o stack open-source de agentes que mais cresce.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Arquitetura: três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![width:1100px](assets/architecture-flow.png)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6 canais de entrada convergem no gateway multiplex → harness orquestra o modelo e as ferramentas. Memory (3 tiers) e skills (agentskills.io) fecham o loop de feedback.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Hermes É um harness de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A stack do Hermes implementa os 8 componentes canônicos: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Componente canônico | Implementação Hermes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|---------------------|----------------------|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Context files | ~/.hermes/AGENTS.md, SOUL.md, profile-level |</a:t>
            </a:r>
          </a:p>
          <a:p>
            <a:r>
              <a:rPr sz="1400" b="0" i="0">
                <a:solidFill>
                  <a:srgbClr val="CDD6F4"/>
                </a:solidFill>
              </a:rPr>
              <a:t>| Skills | ~/.hermes/profiles//skills/**/SKILL.md (formato agentskills.io) |</a:t>
            </a:r>
          </a:p>
          <a:p>
            <a:r>
              <a:rPr sz="1400" b="0" i="0">
                <a:solidFill>
                  <a:srgbClr val="CDD6F4"/>
                </a:solidFill>
              </a:rPr>
              <a:t>| Tools/MCP | Tool Gateway + MCP catalog (Telegram, Discord, +15) |</a:t>
            </a:r>
          </a:p>
          <a:p>
            <a:r>
              <a:rPr sz="1400" b="0" i="0">
                <a:solidFill>
                  <a:srgbClr val="CDD6F4"/>
                </a:solidFill>
              </a:rPr>
              <a:t>| Sub-agents | delegate_task + perfis isolados |</a:t>
            </a:r>
          </a:p>
          <a:p>
            <a:r>
              <a:rPr sz="1400" b="0" i="0">
                <a:solidFill>
                  <a:srgbClr val="CDD6F4"/>
                </a:solidFill>
              </a:rPr>
              <a:t>| Hooks | Webhooks + pre/post actions no config |</a:t>
            </a:r>
          </a:p>
          <a:p>
            <a:r>
              <a:rPr sz="1400" b="0" i="0">
                <a:solidFill>
                  <a:srgbClr val="CDD6F4"/>
                </a:solidFill>
              </a:rPr>
              <a:t>| Memory/Playbook | 3-tier: core, session_search, providers externos |</a:t>
            </a:r>
          </a:p>
          <a:p>
            <a:r>
              <a:rPr sz="1400" b="0" i="0">
                <a:solidFill>
                  <a:srgbClr val="CDD6F4"/>
                </a:solidFill>
              </a:rPr>
              <a:t>| Eval loop | requesting-code-review skill + GEPA |</a:t>
            </a:r>
          </a:p>
          <a:p>
            <a:r>
              <a:rPr sz="1400" b="0" i="0">
                <a:solidFill>
                  <a:srgbClr val="CDD6F4"/>
                </a:solidFill>
              </a:rPr>
              <a:t>| Sandbox/Perms | TELEGRAM_ALLOWED_USERS, profile isolation |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Skills: memória procedimental versionada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![width:1100px](assets/skills-tree.png)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- Frontmatter YAML + corpo Markdown</a:t>
            </a:r>
          </a:p>
          <a:p>
            <a:r>
              <a:rPr sz="1400" b="0" i="0">
                <a:solidFill>
                  <a:srgbClr val="CDD6F4"/>
                </a:solidFill>
              </a:rPr>
              <a:t>- Progressive disclosure: só carrega quando relevante</a:t>
            </a:r>
          </a:p>
          <a:p>
            <a:r>
              <a:rPr sz="1400" b="0" i="0">
                <a:solidFill>
                  <a:srgbClr val="CDD6F4"/>
                </a:solidFill>
              </a:rPr>
              <a:t>- Auto-geração: ≥5 tool calls → Hermes pausa, reflete, escreve skill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Memória em 3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| Tier | Onde | O que guarda | Latência |</a:t>
            </a:r>
          </a:p>
          <a:p>
            <a:r>
              <a:rPr sz="1400" b="0" i="0">
                <a:solidFill>
                  <a:srgbClr val="CDD6F4"/>
                </a:solidFill>
              </a:rPr>
              <a:t>|------|------|--------------|----------|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1 — Core | MEMORY.md + USER.md (~3.5k chars) | Identidade, preferências, environment facts | Sempre no contexto |</a:t>
            </a:r>
          </a:p>
          <a:p>
            <a:r>
              <a:rPr sz="1400" b="0" i="0">
                <a:solidFill>
                  <a:srgbClr val="CDD6F4"/>
                </a:solidFill>
              </a:rPr>
              <a:t>| 2 — Session | SQLite FTS5 pesquisável | Todas as conversas passadas | Sob demanda, rápido |</a:t>
            </a:r>
          </a:p>
          <a:p>
            <a:r>
              <a:rPr sz="1400" b="0" i="0">
                <a:solidFill>
                  <a:srgbClr val="CDD6F4"/>
                </a:solidFill>
              </a:rPr>
              <a:t>| 3 — Externo | Notion, Obsidian, MongoDB, QDrant, Redis | Conhecimento profundo, multi-tenant | Integração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Fatos críticos no Tier 1. Detalhes sob demanda nos demais. Memória profunda é opt-in, não default.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Gateway multiplex — 6 canais, 1 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CDD6F4"/>
                </a:solidFill>
              </a:rPr>
              <a:t>section pre { background: #181825 !important; border: 1px solid #45475a; padding: 0.4em 0.6em; border-radius: 6px; }</a:t>
            </a:r>
          </a:p>
          <a:p>
            <a:r>
              <a:rPr sz="1400" b="0" i="0">
                <a:solidFill>
                  <a:srgbClr val="CDD6F4"/>
                </a:solidFill>
              </a:rPr>
              <a:t>section pre code { background: transparent !important; color: #f5c2e7 !important; font-size: 0.8em; }</a:t>
            </a:r>
          </a:p>
          <a:p>
            <a:r>
              <a:rPr sz="1400" b="0" i="0">
                <a:solidFill>
                  <a:srgbClr val="CDD6F4"/>
                </a:solidFill>
              </a:rPr>
              <a:t>section table { font-size: 0.7em; }</a:t>
            </a:r>
          </a:p>
          <a:p/>
          <a:p/>
          <a:p>
            <a:r>
              <a:rPr sz="1400" b="0" i="0">
                <a:solidFill>
                  <a:srgbClr val="CDD6F4"/>
                </a:solidFill>
              </a:rPr>
              <a:t>![bg right:32% width:400px](assets/telegram-getupdates.png)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Antes (v1): um gateway por perfil → conflitos de PID, port collision.</a:t>
            </a:r>
          </a:p>
          <a:p>
            <a:r>
              <a:rPr sz="1400" b="0" i="0">
                <a:solidFill>
                  <a:srgbClr val="CDD6F4"/>
                </a:solidFill>
              </a:rPr>
              <a:t>Agora (v2): um único gateway serve todos os perfis (linus, montaigne, default…).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```bash</a:t>
            </a:r>
          </a:p>
          <a:p>
            <a:r>
              <a:rPr sz="1400" b="0" i="0">
                <a:solidFill>
                  <a:srgbClr val="CDD6F4"/>
                </a:solidFill>
              </a:rPr>
              <a:t>hermes gateway migrate --multiplex</a:t>
            </a:r>
          </a:p>
          <a:p>
            <a:r>
              <a:rPr sz="1400" b="0" i="0">
                <a:solidFill>
                  <a:srgbClr val="CDD6F4"/>
                </a:solidFill>
              </a:rPr>
              <a:t>```</a:t>
            </a:r>
          </a:p>
          <a:p/>
          <a:p/>
          <a:p/>
          <a:p/>
          <a:p>
            <a:r>
              <a:rPr sz="1400" b="0" i="0">
                <a:solidFill>
                  <a:srgbClr val="CDD6F4"/>
                </a:solidFill>
              </a:rPr>
              <a:t>| Canal | Status |</a:t>
            </a:r>
          </a:p>
          <a:p>
            <a:r>
              <a:rPr sz="1400" b="0" i="0">
                <a:solidFill>
                  <a:srgbClr val="CDD6F4"/>
                </a:solidFill>
              </a:rPr>
              <a:t>|-------|--------|</a:t>
            </a:r>
          </a:p>
          <a:p>
            <a:r>
              <a:rPr sz="1400" b="0" i="0">
                <a:solidFill>
                  <a:srgbClr val="CDD6F4"/>
                </a:solidFill>
              </a:rPr>
              <a:t>| Telegram | ✅ produção |</a:t>
            </a:r>
          </a:p>
          <a:p>
            <a:r>
              <a:rPr sz="1400" b="0" i="0">
                <a:solidFill>
                  <a:srgbClr val="CDD6F4"/>
                </a:solidFill>
              </a:rPr>
              <a:t>| CLI/TUI | ✅ local |</a:t>
            </a:r>
          </a:p>
          <a:p>
            <a:r>
              <a:rPr sz="1400" b="0" i="0">
                <a:solidFill>
                  <a:srgbClr val="CDD6F4"/>
                </a:solidFill>
              </a:rPr>
              <a:t>| Slack | ✅ |</a:t>
            </a:r>
          </a:p>
          <a:p/>
          <a:p/>
          <a:p/>
          <a:p/>
          <a:p>
            <a:r>
              <a:rPr sz="1400" b="0" i="0">
                <a:solidFill>
                  <a:srgbClr val="CDD6F4"/>
                </a:solidFill>
              </a:rPr>
              <a:t>| Canal | Status |</a:t>
            </a:r>
          </a:p>
          <a:p>
            <a:r>
              <a:rPr sz="1400" b="0" i="0">
                <a:solidFill>
                  <a:srgbClr val="CDD6F4"/>
                </a:solidFill>
              </a:rPr>
              <a:t>|-------|--------|</a:t>
            </a:r>
          </a:p>
          <a:p>
            <a:r>
              <a:rPr sz="1400" b="0" i="0">
                <a:solidFill>
                  <a:srgbClr val="CDD6F4"/>
                </a:solidFill>
              </a:rPr>
              <a:t>| Discord | ✅ |</a:t>
            </a:r>
          </a:p>
          <a:p>
            <a:r>
              <a:rPr sz="1400" b="0" i="0">
                <a:solidFill>
                  <a:srgbClr val="CDD6F4"/>
                </a:solidFill>
              </a:rPr>
              <a:t>| WhatsApp / Signal | ✅ |</a:t>
            </a:r>
          </a:p>
          <a:p>
            <a:r>
              <a:rPr sz="1400" b="0" i="0">
                <a:solidFill>
                  <a:srgbClr val="CDD6F4"/>
                </a:solidFill>
              </a:rPr>
              <a:t>| Email (IMAP/SMTP) | ✅ |</a:t>
            </a:r>
          </a:p>
          <a:p/>
          <a:p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Perfis = agentes isolados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CDD6F4"/>
                </a:solidFill>
              </a:rPr>
              <a:t>section pre { background: #181825 !important; border: 1px solid #45475a; padding: 0.4em 0.6em; border-radius: 6px; }</a:t>
            </a:r>
          </a:p>
          <a:p>
            <a:r>
              <a:rPr sz="1400" b="0" i="0">
                <a:solidFill>
                  <a:srgbClr val="CDD6F4"/>
                </a:solidFill>
              </a:rPr>
              <a:t>section pre code { background: transparent !important; color: #f5c2e7 !important; font-size: 0.8em; }</a:t>
            </a:r>
          </a:p>
          <a:p/>
          <a:p/>
          <a:p>
            <a:r>
              <a:rPr sz="1400" b="0" i="0">
                <a:solidFill>
                  <a:srgbClr val="CDD6F4"/>
                </a:solidFill>
              </a:rPr>
              <a:t>```bash</a:t>
            </a:r>
          </a:p>
          <a:p>
            <a:r>
              <a:rPr sz="1400" b="0" i="0">
                <a:solidFill>
                  <a:srgbClr val="CDD6F4"/>
                </a:solidFill>
              </a:rPr>
              <a:t>hermes profile create klimt --clone default</a:t>
            </a:r>
          </a:p>
          <a:p>
            <a:r>
              <a:rPr sz="1400" b="0" i="0">
                <a:solidFill>
                  <a:srgbClr val="CDD6F4"/>
                </a:solidFill>
              </a:rPr>
              <a:t>hermes profile create linus --clone default</a:t>
            </a:r>
          </a:p>
          <a:p>
            <a:r>
              <a:rPr sz="1400" b="0" i="0">
                <a:solidFill>
                  <a:srgbClr val="CDD6F4"/>
                </a:solidFill>
              </a:rPr>
              <a:t>hermes profile create vargani --clone default</a:t>
            </a:r>
          </a:p>
          <a:p>
            <a:r>
              <a:rPr sz="1400" b="0" i="0">
                <a:solidFill>
                  <a:srgbClr val="CDD6F4"/>
                </a:solidFill>
              </a:rPr>
              <a:t>```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Cada perfil tem: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- SOUL.md próprio (identidade)</a:t>
            </a:r>
          </a:p>
          <a:p>
            <a:r>
              <a:rPr sz="1400" b="0" i="0">
                <a:solidFill>
                  <a:srgbClr val="CDD6F4"/>
                </a:solidFill>
              </a:rPr>
              <a:t>- Memória independente</a:t>
            </a:r>
          </a:p>
          <a:p>
            <a:r>
              <a:rPr sz="1400" b="0" i="0">
                <a:solidFill>
                  <a:srgbClr val="CDD6F4"/>
                </a:solidFill>
              </a:rPr>
              <a:t>- Bot Telegram dedicado</a:t>
            </a:r>
          </a:p>
          <a:p>
            <a:r>
              <a:rPr sz="1400" b="0" i="0">
                <a:solidFill>
                  <a:srgbClr val="CDD6F4"/>
                </a:solidFill>
              </a:rPr>
              <a:t>- Cronjobs separados</a:t>
            </a:r>
          </a:p>
          <a:p>
            <a:r>
              <a:rPr sz="1400" b="0" i="0">
                <a:solidFill>
                  <a:srgbClr val="CDD6F4"/>
                </a:solidFill>
              </a:rPr>
              <a:t>- Skills customizadas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Perfis que rodam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Na minha máquina, 5 perfis ativos que separam domínios do trabalho: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Perfil | Papel | Exemplo de uso |</a:t>
            </a:r>
          </a:p>
          <a:p>
            <a:r>
              <a:rPr sz="1400" b="0" i="0">
                <a:solidFill>
                  <a:srgbClr val="CDD6F4"/>
                </a:solidFill>
              </a:rPr>
              <a:t>|--------|-------|---------------|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montaigne | Bots e voz | Bot Telegram, transcrição de áudio (o que usamos agora) |</a:t>
            </a:r>
          </a:p>
          <a:p>
            <a:r>
              <a:rPr sz="1400" b="0" i="0">
                <a:solidFill>
                  <a:srgbClr val="CDD6F4"/>
                </a:solidFill>
              </a:rPr>
              <a:t>| linus | Sysadmin | Diagnóstico de crash, drivers, journald |</a:t>
            </a:r>
          </a:p>
          <a:p>
            <a:r>
              <a:rPr sz="1400" b="0" i="0">
                <a:solidFill>
                  <a:srgbClr val="CDD6F4"/>
                </a:solidFill>
              </a:rPr>
              <a:t>| vargani | Gestão UNESP/CTInf | Atas, escalas, planejamento institucional |</a:t>
            </a:r>
          </a:p>
          <a:p>
            <a:r>
              <a:rPr sz="1400" b="0" i="0">
                <a:solidFill>
                  <a:srgbClr val="CDD6F4"/>
                </a:solidFill>
              </a:rPr>
              <a:t>| ideker | Bioinformática | Pipelines de sequenciamento, BLAST |</a:t>
            </a:r>
          </a:p>
          <a:p>
            <a:r>
              <a:rPr sz="1400" b="0" i="0">
                <a:solidFill>
                  <a:srgbClr val="CDD6F4"/>
                </a:solidFill>
              </a:rPr>
              <a:t>| klimt | Cultura | Notas sobre cinema, livros, design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Cada perfil é um sub-agente especializado com identidade, memória e bot próprio — o mesmo modelo LLM responde a todos, mas com contexto e skills diferentes.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Voz: real-time, nativa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![bg right:55% width:600px](assets/voice-playback.png)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Herald Release (2026.2):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- Voz conversacional em tempo real</a:t>
            </a:r>
          </a:p>
          <a:p>
            <a:r>
              <a:rPr sz="1400" b="0" i="0">
                <a:solidFill>
                  <a:srgbClr val="CDD6F4"/>
                </a:solidFill>
              </a:rPr>
              <a:t>- Edge TTS como default (pt-BR nativo, zero config)</a:t>
            </a:r>
          </a:p>
          <a:p>
            <a:r>
              <a:rPr sz="1400" b="0" i="0">
                <a:solidFill>
                  <a:srgbClr val="CDD6F4"/>
                </a:solidFill>
              </a:rPr>
              <a:t>- STT local via faster-whisper (base/small/large-v3)</a:t>
            </a:r>
          </a:p>
          <a:p>
            <a:r>
              <a:rPr sz="1400" b="0" i="0">
                <a:solidFill>
                  <a:srgbClr val="CDD6F4"/>
                </a:solidFill>
              </a:rPr>
              <a:t>- Multilingual, switch automático de idioma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Desktop nativo (Surface Release, jun/2026)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![bg right:50% width:600px](assets/hermes-desktop.png)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- App desktop nativo (Electron) — macOS, Linux, Windows</a:t>
            </a:r>
          </a:p>
          <a:p>
            <a:r>
              <a:rPr sz="1400" b="0" i="0">
                <a:solidFill>
                  <a:srgbClr val="CDD6F4"/>
                </a:solidFill>
              </a:rPr>
              <a:t>- Painel web de administração (canais, creds, MCP, webhooks)</a:t>
            </a:r>
          </a:p>
          <a:p>
            <a:r>
              <a:rPr sz="1400" b="0" i="0">
                <a:solidFill>
                  <a:srgbClr val="CDD6F4"/>
                </a:solidFill>
              </a:rPr>
              <a:t>- Sessões multi-perfil concorrentes em abas</a:t>
            </a:r>
          </a:p>
          <a:p>
            <a:r>
              <a:rPr sz="1400" b="0" i="0">
                <a:solidFill>
                  <a:srgbClr val="CDD6F4"/>
                </a:solidFill>
              </a:rPr>
              <a:t>- Arrasta-e-solta arquivos no chat</a:t>
            </a:r>
          </a:p>
          <a:p>
            <a:r>
              <a:rPr sz="1400" b="0" i="0">
                <a:solidFill>
                  <a:srgbClr val="CDD6F4"/>
                </a:solidFill>
              </a:rPr>
              <a:t>- Conecta a gateway remoto (homelab, hosted) via OAuth</a:t>
            </a:r>
          </a:p>
          <a:p>
            <a:r>
              <a:rPr sz="1400" b="0" i="0">
                <a:solidFill>
                  <a:srgbClr val="CDD6F4"/>
                </a:solidFill>
              </a:rPr>
              <a:t>- /undo para desfazer últimas N turns</a:t>
            </a:r>
          </a:p>
          <a:p>
            <a:r>
              <a:rPr sz="1400" b="0" i="0">
                <a:solidFill>
                  <a:srgbClr val="CDD6F4"/>
                </a:solidFill>
              </a:rPr>
              <a:t>- Modelo picker fuzzy no status bar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Parte 3 — Como o trabalho mudou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O dia-a-dia de usar Hermes em 2026.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Antes vs. depois: 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| Aspecto | Antes (v1) | Agora (v2)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|---------|-----------|------------|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Onboarding | 1h explicando contexto | 30s — memória + skills já carregadas |</a:t>
            </a:r>
          </a:p>
          <a:p>
            <a:r>
              <a:rPr sz="1400" b="0" i="0">
                <a:solidFill>
                  <a:srgbClr val="CDD6F4"/>
                </a:solidFill>
              </a:rPr>
              <a:t>| Tarefa nova | Tenta, falha, refaz | Tenta → falha → escreve skill → próximo: resolve na 1ª |</a:t>
            </a:r>
          </a:p>
          <a:p>
            <a:r>
              <a:rPr sz="1400" b="0" i="0">
                <a:solidFill>
                  <a:srgbClr val="CDD6F4"/>
                </a:solidFill>
              </a:rPr>
              <a:t>| Reuniões | Anota e processa depois | Teams bot pipeline: transcrição → skill meeting-action-items → cards no Notion |</a:t>
            </a:r>
          </a:p>
          <a:p>
            <a:r>
              <a:rPr sz="1400" b="0" i="0">
                <a:solidFill>
                  <a:srgbClr val="CDD6F4"/>
                </a:solidFill>
              </a:rPr>
              <a:t>| Diagnóstico | Você debug | diagnose-crash skill: journald + dmesg + last + logs → relatório com causa raiz |</a:t>
            </a:r>
          </a:p>
          <a:p>
            <a:r>
              <a:rPr sz="1400" b="0" i="0">
                <a:solidFill>
                  <a:srgbClr val="CDD6F4"/>
                </a:solidFill>
              </a:rPr>
              <a:t>| Apresentação | Slide por slide | marp skill: estrutura → conteúdo → render → push |</a:t>
            </a:r>
          </a:p>
          <a:p>
            <a:r>
              <a:rPr sz="1400" b="0" i="0">
                <a:solidFill>
                  <a:srgbClr val="CDD6F4"/>
                </a:solidFill>
              </a:rPr>
              <a:t>| PR review | Manual ou amigo | requesting-code-review skill: security + quality gates + auto-fix |</a:t>
            </a:r>
          </a:p>
          <a:p>
            <a:r>
              <a:rPr sz="1400" b="0" i="0">
                <a:solidFill>
                  <a:srgbClr val="CDD6F4"/>
                </a:solidFill>
              </a:rPr>
              <a:t>| Knowledge mgmt | Wiki parada | GEPA evolui skills offline baseado em traces |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Caso real: pipeline de reuniões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![width:1000px](assets/pipeline-teams.png)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Roda sozinho 24/7, zero intervenção.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Pipeline Teams: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Inputs (Teams bot)</a:t>
            </a:r>
          </a:p>
          <a:p>
            <a:r>
              <a:rPr sz="1400" b="0" i="0">
                <a:solidFill>
                  <a:srgbClr val="CDD6F4"/>
                </a:solidFill>
              </a:rPr>
              <a:t>- Áudio da reunião via Herald</a:t>
            </a:r>
          </a:p>
          <a:p>
            <a:r>
              <a:rPr sz="1400" b="0" i="0">
                <a:solidFill>
                  <a:srgbClr val="CDD6F4"/>
                </a:solidFill>
              </a:rPr>
              <a:t>- Transcrição com diarização</a:t>
            </a:r>
          </a:p>
          <a:p>
            <a:r>
              <a:rPr sz="1400" b="0" i="0">
                <a:solidFill>
                  <a:srgbClr val="CDD6F4"/>
                </a:solidFill>
              </a:rPr>
              <a:t>- Timestamps e participantes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Processamento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- Skill meeting-action-items extrai:</a:t>
            </a:r>
          </a:p>
          <a:p>
            <a:r>
              <a:rPr sz="1400" b="0" i="0">
                <a:solidFill>
                  <a:srgbClr val="CDD6F4"/>
                </a:solidFill>
              </a:rPr>
              <a:t>- Decisões com contexto</a:t>
            </a:r>
          </a:p>
          <a:p>
            <a:r>
              <a:rPr sz="1400" b="0" i="0">
                <a:solidFill>
                  <a:srgbClr val="CDD6F4"/>
                </a:solidFill>
              </a:rPr>
              <a:t>- Action items com owner + due date inferido</a:t>
            </a:r>
          </a:p>
          <a:p>
            <a:r>
              <a:rPr sz="1400" b="0" i="0">
                <a:solidFill>
                  <a:srgbClr val="CDD6F4"/>
                </a:solidFill>
              </a:rPr>
              <a:t>- LLM faz o mapeamento com base no histórico do Tier 2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Outputs (3 destinos paralelos)</a:t>
            </a:r>
          </a:p>
          <a:p>
            <a:r>
              <a:rPr sz="1400" b="0" i="0">
                <a:solidFill>
                  <a:srgbClr val="CDD6F4"/>
                </a:solidFill>
              </a:rPr>
              <a:t>- Cards no Notion (board institucional)</a:t>
            </a:r>
          </a:p>
          <a:p>
            <a:r>
              <a:rPr sz="1400" b="0" i="0">
                <a:solidFill>
                  <a:srgbClr val="CDD6F4"/>
                </a:solidFill>
              </a:rPr>
              <a:t>- Mensagem no Telegram (lembrete diário)</a:t>
            </a:r>
          </a:p>
          <a:p>
            <a:r>
              <a:rPr sz="1400" b="0" i="0">
                <a:solidFill>
                  <a:srgbClr val="CDD6F4"/>
                </a:solidFill>
              </a:rPr>
              <a:t>- Cron 8h: resumo do que está aberto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Caso real: o crash de hoje cedo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![bg right:45% width:560px](assets/diagnose-crash-terminal.png)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O laptop caiu às 9:14 com hermes-gateway.service em loop infinito (counter 1155+).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Com a skill diagnose-crash, o diagnóstico foi: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![width:1100px](assets/diagnose-steps.png)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Antes: 30 min fuçando logs no escuro. Agora: skill resolve em 90 segundos.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Caso real: skill auto-gerada ontem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![bg right:50% width:560px](assets/skill-auto-generated.png)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O usuário pediu para "verificar se o Telegram está no ar". Em menos de 10 trocas, o Hermes: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1. Tentou curl nos DCs públicos → falhou</a:t>
            </a:r>
          </a:p>
          <a:p>
            <a:r>
              <a:rPr sz="1400" b="0" i="0">
                <a:solidFill>
                  <a:srgbClr val="CDD6F4"/>
                </a:solidFill>
              </a:rPr>
              <a:t>2. Detectou que IPs individuais falham mas 149.154.166.110 responde</a:t>
            </a:r>
          </a:p>
          <a:p>
            <a:r>
              <a:rPr sz="1400" b="0" i="0">
                <a:solidFill>
                  <a:srgbClr val="CDD6F4"/>
                </a:solidFill>
              </a:rPr>
              <a:t>3. Escreveu nota sobre a geolocalização dos DCs do Telegram</a:t>
            </a:r>
          </a:p>
          <a:p>
            <a:r>
              <a:rPr sz="1400" b="0" i="0">
                <a:solidFill>
                  <a:srgbClr val="CDD6F4"/>
                </a:solidFill>
              </a:rPr>
              <a:t>4. Propôs criar/atualizar skill telegram-bot-operations</a:t>
            </a:r>
          </a:p>
          <a:p>
            <a:r>
              <a:rPr sz="1400" b="0" i="0">
                <a:solidFill>
                  <a:srgbClr val="CDD6F4"/>
                </a:solidFill>
              </a:rPr>
              <a:t>5. Em 5 minutos: skill atualizada e testada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Autoedição em tempo real — o arreio se ajusta durante a montaria.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loop de melhoria contínua (atualizado)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![width:1000px](assets/continuous-loop.png)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Três caminhos convergem: o arreio nunca mais erra isso.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GEPA: evolução genética de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&gt; Genetic-Pareto Prompt Evolution — paper ICLR 2026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1. Lê a skill atual</a:t>
            </a:r>
          </a:p>
          <a:p>
            <a:r>
              <a:rPr sz="1400" b="0" i="0">
                <a:solidFill>
                  <a:srgbClr val="CDD6F4"/>
                </a:solidFill>
              </a:rPr>
              <a:t>2. Gera dataset de execuções reais (traces)</a:t>
            </a:r>
          </a:p>
          <a:p>
            <a:r>
              <a:rPr sz="1400" b="0" i="0">
                <a:solidFill>
                  <a:srgbClr val="CDD6F4"/>
                </a:solidFill>
              </a:rPr>
              <a:t>3. Roda o otimizador GEPA (custo ~$2–10, sem GPU)</a:t>
            </a:r>
          </a:p>
          <a:p>
            <a:r>
              <a:rPr sz="1400" b="0" i="0">
                <a:solidFill>
                  <a:srgbClr val="CDD6F4"/>
                </a:solidFill>
              </a:rPr>
              <a:t>4. Avalia candidatos em Pareto front</a:t>
            </a:r>
          </a:p>
          <a:p>
            <a:r>
              <a:rPr sz="1400" b="0" i="0">
                <a:solidFill>
                  <a:srgbClr val="CDD6F4"/>
                </a:solidFill>
              </a:rPr>
              <a:t>5. Aplica constraints (segurança, estilo)</a:t>
            </a:r>
          </a:p>
          <a:p>
            <a:r>
              <a:rPr sz="1400" b="0" i="0">
                <a:solidFill>
                  <a:srgbClr val="CDD6F4"/>
                </a:solidFill>
              </a:rPr>
              <a:t>6. Abre PR com a melhor variante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Skills melhoram sozinhas em background. O arreio fica mais justo a cada passada.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Comparativo: por que não só ChatGPT?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| Critério | ChatGPT | Codex CLI | Hermes v2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|----------|---------|-----------|-----------|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Harness engineering completo | ❌ | parcial | ✅ (8/8 componentes) |</a:t>
            </a:r>
          </a:p>
          <a:p>
            <a:r>
              <a:rPr sz="1400" b="0" i="0">
                <a:solidFill>
                  <a:srgbClr val="CDD6F4"/>
                </a:solidFill>
              </a:rPr>
              <a:t>| Memória persistente multi-tier | ❌ | ❌ | ✅ 3 tiers |</a:t>
            </a:r>
          </a:p>
          <a:p>
            <a:r>
              <a:rPr sz="1400" b="0" i="0">
                <a:solidFill>
                  <a:srgbClr val="CDD6F4"/>
                </a:solidFill>
              </a:rPr>
              <a:t>| Skills customizadas versionadas | ❌ | via filesystem | ✅ agentskills.io |</a:t>
            </a:r>
          </a:p>
          <a:p>
            <a:r>
              <a:rPr sz="1400" b="0" i="0">
                <a:solidFill>
                  <a:srgbClr val="CDD6F4"/>
                </a:solidFill>
              </a:rPr>
              <a:t>| Auto-geração de skills | ❌ | ❌ | ✅ ≥5 tool calls |</a:t>
            </a:r>
          </a:p>
          <a:p>
            <a:r>
              <a:rPr sz="1400" b="0" i="0">
                <a:solidFill>
                  <a:srgbClr val="CDD6F4"/>
                </a:solidFill>
              </a:rPr>
              <a:t>| 6+ canais de messaging | ❌ | ❌ | ✅ |</a:t>
            </a:r>
          </a:p>
          <a:p>
            <a:r>
              <a:rPr sz="1400" b="0" i="0">
                <a:solidFill>
                  <a:srgbClr val="CDD6F4"/>
                </a:solidFill>
              </a:rPr>
              <a:t>| Modelo-agnóstico | ❌ | ❌ | ✅ |</a:t>
            </a:r>
          </a:p>
          <a:p>
            <a:r>
              <a:rPr sz="1400" b="0" i="0">
                <a:solidFill>
                  <a:srgbClr val="CDD6F4"/>
                </a:solidFill>
              </a:rPr>
              <a:t>| Provedor próprio (UNESP) | ❌ | ❌ | ✅ llm.tools.unesp.br |</a:t>
            </a:r>
          </a:p>
          <a:p>
            <a:r>
              <a:rPr sz="1400" b="0" i="0">
                <a:solidFill>
                  <a:srgbClr val="CDD6F4"/>
                </a:solidFill>
              </a:rPr>
              <a:t>| Privacidade (local-first) | ❌ | parcial | ✅ modelo local possível |</a:t>
            </a:r>
          </a:p>
          <a:p>
            <a:r>
              <a:rPr sz="1400" b="0" i="0">
                <a:solidFill>
                  <a:srgbClr val="CDD6F4"/>
                </a:solidFill>
              </a:rPr>
              <a:t>| Open source MIT | ❌ | ❌ | ✅ |</a:t>
            </a:r>
          </a:p>
          <a:p>
            <a:r>
              <a:rPr sz="1400" b="0" i="0">
                <a:solidFill>
                  <a:srgbClr val="CDD6F4"/>
                </a:solidFill>
              </a:rPr>
              <a:t>| Evolução offline (GEPA) | ❌ | ❌ | ✅ |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Integração com a UNESP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- Claude-Unesp: llm.tools.unesp.br (dados não saem)</a:t>
            </a:r>
          </a:p>
          <a:p>
            <a:r>
              <a:rPr sz="1400" b="0" i="0">
                <a:solidFill>
                  <a:srgbClr val="CDD6F4"/>
                </a:solidFill>
              </a:rPr>
              <a:t>- Notion: gestão de tarefas institucionais via notion skill</a:t>
            </a:r>
          </a:p>
          <a:p>
            <a:r>
              <a:rPr sz="1400" b="0" i="0">
                <a:solidFill>
                  <a:srgbClr val="CDD6F4"/>
                </a:solidFill>
              </a:rPr>
              <a:t>- Google Workspace: gws CLI (Gmail, Calendar, Drive)</a:t>
            </a:r>
          </a:p>
          <a:p>
            <a:r>
              <a:rPr sz="1400" b="0" i="0">
                <a:solidFill>
                  <a:srgbClr val="CDD6F4"/>
                </a:solidFill>
              </a:rPr>
              <a:t>- GitHub: PRs, issues, code review via github skill</a:t>
            </a:r>
          </a:p>
          <a:p>
            <a:r>
              <a:rPr sz="1400" b="0" i="0">
                <a:solidFill>
                  <a:srgbClr val="CDD6F4"/>
                </a:solidFill>
              </a:rPr>
              <a:t>- Teams: pipeline de reuniões → action items → Notion</a:t>
            </a:r>
          </a:p>
          <a:p>
            <a:r>
              <a:rPr sz="1400" b="0" i="0">
                <a:solidFill>
                  <a:srgbClr val="CDD6F4"/>
                </a:solidFill>
              </a:rPr>
              <a:t>- AgentMail: e-mails automáticos com triagem inteligente</a:t>
            </a:r>
          </a:p>
          <a:p>
            <a:r>
              <a:rPr sz="1400" b="0" i="0">
                <a:solidFill>
                  <a:srgbClr val="CDD6F4"/>
                </a:solidFill>
              </a:rPr>
              <a:t>- REDNESP / C3SP: HPC assistido por IA (em rollout)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Omarchy: o SO controlado por 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Omarchy (Arch Linux baseado) é o laboratório vivo do Hermes — cada componente do sistema é uma skill, e cada skill vira um comando que a IA pode invocar.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![width:1000px](assets/omarchy-control.png)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Exemplos reais do que o agente faz no SO: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| Pedido em linguagem natural | O que o agente executa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|----------------------------|-----------------------|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"instale CUDA" | sudo pacman -S cuda nvidia-dkms + valida driver |</a:t>
            </a:r>
          </a:p>
          <a:p>
            <a:r>
              <a:rPr sz="1400" b="0" i="0">
                <a:solidFill>
                  <a:srgbClr val="CDD6F4"/>
                </a:solidFill>
              </a:rPr>
              <a:t>| "minha wifi caiu" | journalctl -u NetworkManager + diagnóstico + reconecta |</a:t>
            </a:r>
          </a:p>
          <a:p>
            <a:r>
              <a:rPr sz="1400" b="0" i="0">
                <a:solidFill>
                  <a:srgbClr val="CDD6F4"/>
                </a:solidFill>
              </a:rPr>
              <a:t>| "troque a tecla SUPER+T" | edita ~/.config/hypr/hyprland.conf + hyprctl reload |</a:t>
            </a:r>
          </a:p>
          <a:p>
            <a:r>
              <a:rPr sz="1400" b="0" i="0">
                <a:solidFill>
                  <a:srgbClr val="CDD6F4"/>
                </a:solidFill>
              </a:rPr>
              <a:t>| "antes desse update, faz snapshot" | btrfs snapshot create + confirma |</a:t>
            </a:r>
          </a:p>
          <a:p>
            <a:r>
              <a:rPr sz="1400" b="0" i="0">
                <a:solidFill>
                  <a:srgbClr val="CDD6F4"/>
                </a:solidFill>
              </a:rPr>
              <a:t>| "debug do driver NVIDIA" | nvidia-smi + journald + skill diagnose-crash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O SO vira manipulável por conversa. Cada dotfile, serviço e pacote é uma tool que o agente conhece — e cada erro vira uma nova regra persistida em AGENTS.md.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Cadeia 100% software livre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![width:1000px](assets/free-stack.png)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Onde estamos vs. fronteira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| Capacidade | Estado hoje | Fronteira 2026 |</a:t>
            </a:r>
          </a:p>
          <a:p>
            <a:r>
              <a:rPr sz="1400" b="0" i="0">
                <a:solidFill>
                  <a:srgbClr val="CDD6F4"/>
                </a:solidFill>
              </a:rPr>
              <a:t>|------------|-------------|----------------|</a:t>
            </a:r>
          </a:p>
          <a:p>
            <a:r>
              <a:rPr sz="1400" b="0" i="0">
                <a:solidFill>
                  <a:srgbClr val="CDD6F4"/>
                </a:solidFill>
              </a:rPr>
              <a:t>| Skills estáticas | ✅ 118 bundled | meta-skills auto-crossing (MCE) |</a:t>
            </a:r>
          </a:p>
          <a:p>
            <a:r>
              <a:rPr sz="1400" b="0" i="0">
                <a:solidFill>
                  <a:srgbClr val="CDD6F4"/>
                </a:solidFill>
              </a:rPr>
              <a:t>| Memória multi-tier | ✅ 3 tiers | playbooks evolutivos (ACE) |</a:t>
            </a:r>
          </a:p>
          <a:p>
            <a:r>
              <a:rPr sz="1400" b="0" i="0">
                <a:solidFill>
                  <a:srgbClr val="CDD6F4"/>
                </a:solidFill>
              </a:rPr>
              <a:t>| Gateway multiplex | ✅ produção | agentes em rede via A2A |</a:t>
            </a:r>
          </a:p>
          <a:p>
            <a:r>
              <a:rPr sz="1400" b="0" i="0">
                <a:solidFill>
                  <a:srgbClr val="CDD6F4"/>
                </a:solidFill>
              </a:rPr>
              <a:t>| Voz conversacional | ✅ real-time | prosódia emocional, dialetos |</a:t>
            </a:r>
          </a:p>
          <a:p>
            <a:r>
              <a:rPr sz="1400" b="0" i="0">
                <a:solidFill>
                  <a:srgbClr val="CDD6F4"/>
                </a:solidFill>
              </a:rPr>
              <a:t>| Auto-aprimoramento | ✅ manual+GEPA | harness que evolui sozinho (AHE) |</a:t>
            </a:r>
          </a:p>
          <a:p>
            <a:r>
              <a:rPr sz="1400" b="0" i="0">
                <a:solidFill>
                  <a:srgbClr val="CDD6F4"/>
                </a:solidFill>
              </a:rPr>
              <a:t>| Multi-tenant | parcial | per-tenant context studios |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&gt; Hermes está no mainline da fronteira open-source — não atrás dela.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O que vem por aí (próximos 6-12 meses)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- Ralph Loops no Hermes: agentes rodam até PR mergeado, sem humano no loop</a:t>
            </a:r>
          </a:p>
          <a:p>
            <a:r>
              <a:rPr sz="1400" b="0" i="0">
                <a:solidFill>
                  <a:srgbClr val="CDD6F4"/>
                </a:solidFill>
              </a:rPr>
              <a:t>- A2A inter-profile: bots conversando entre si (linus ↔ vargani)</a:t>
            </a:r>
          </a:p>
          <a:p>
            <a:r>
              <a:rPr sz="1400" b="0" i="0">
                <a:solidFill>
                  <a:srgbClr val="CDD6F4"/>
                </a:solidFill>
              </a:rPr>
              <a:t>- AHE (Agentic Harness Engineering): observabilidade que evolui o harness automaticamente</a:t>
            </a:r>
          </a:p>
          <a:p>
            <a:r>
              <a:rPr sz="1400" b="0" i="0">
                <a:solidFill>
                  <a:srgbClr val="CDD6F4"/>
                </a:solidFill>
              </a:rPr>
              <a:t>- RAG semântico sobre wiki UNESP com embeddings locais</a:t>
            </a:r>
          </a:p>
          <a:p>
            <a:r>
              <a:rPr sz="1400" b="0" i="0">
                <a:solidFill>
                  <a:srgbClr val="CDD6F4"/>
                </a:solidFill>
              </a:rPr>
              <a:t>- Agentes verticais: bioinfo (ideker), pedagogy (klimt), procurement (vargani)</a:t>
            </a:r>
          </a:p>
          <a:p>
            <a:r>
              <a:rPr sz="1400" b="0" i="0">
                <a:solidFill>
                  <a:srgbClr val="CDD6F4"/>
                </a:solidFill>
              </a:rPr>
              <a:t>- HaaS (Harness-as-a-Service): hospedar o harness de terceiros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Arreios bem ajustados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## não prendem — liberam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### Eles evoluem enquanto você trabalha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&gt; O Hermes não é mais um assistente de IA.</a:t>
            </a:r>
          </a:p>
          <a:p>
            <a:r>
              <a:rPr sz="1400" b="0" i="0">
                <a:solidFill>
                  <a:srgbClr val="CDD6F4"/>
                </a:solidFill>
              </a:rPr>
              <a:t>&gt; É um harness completo que se autoaperfeiçoa —</a:t>
            </a:r>
          </a:p>
          <a:p>
            <a:r>
              <a:rPr sz="1400" b="0" i="0">
                <a:solidFill>
                  <a:srgbClr val="CDD6F4"/>
                </a:solidFill>
              </a:rPr>
              <a:t>&gt; e que entende quem você é, o que você faz, e como você fala.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Liberte-se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&gt; "Emancipate yourselves from mental slavery.</a:t>
            </a:r>
          </a:p>
          <a:p>
            <a:r>
              <a:rPr sz="1400" b="0" i="0">
                <a:solidFill>
                  <a:srgbClr val="CDD6F4"/>
                </a:solidFill>
              </a:rPr>
              <a:t>&gt; None but ourselves can free our minds."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*— Bob Marley, Redemption Song (1980)*</a:t>
            </a:r>
          </a:p>
          <a:p/>
          <a:p>
            <a:r>
              <a:rPr sz="1400" b="0" i="0">
                <a:solidFill>
                  <a:srgbClr val="CDD6F4"/>
                </a:solidFill>
              </a:rPr>
              <a:t>A engenharia de IA tem a mesma forma: ninguém vai libertar seu workflow a não ser você mesmo. Cada camada que você controla (SO, LLM, arreio, apps, bots) é uma camada de soberania que nenhum fornecedor pode tirar de você.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DD6F4"/>
                </a:solidFill>
              </a:rPr>
              <a:t>Ney Lemke</a:t>
            </a:r>
          </a:p>
          <a:p>
            <a:r>
              <a:rPr sz="1400" b="0" i="0">
                <a:solidFill>
                  <a:srgbClr val="CDD6F4"/>
                </a:solidFill>
              </a:rPr>
              <a:t>CIO · UNESP · CTInf</a:t>
            </a:r>
          </a:p>
          <a:p>
            <a:r>
              <a:rPr sz="1400" b="0" i="0">
                <a:solidFill>
                  <a:srgbClr val="CDD6F4"/>
                </a:solidFill>
              </a:rPr>
              <a:t>ney.lemke@unesp.br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C7086"/>
                </a:solidFill>
              </a:rPr>
              <a:t>Ney Lemke · UNESP · CTInf · 2026    ·   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89B4FA"/>
                </a:solidFill>
              </a:rPr>
              <a:t>Referências (selecionadas)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 b="0" i="0">
                <a:solidFill>
                  <a:srgbClr val="CDD6F4"/>
                </a:solidFill>
              </a:rPr>
              <a:t>OpenAI. "Harness engineering: leveraging Codex in an agent-first world." fev/2026. openai.com/index/harness-engineering/</a:t>
            </a:r>
          </a:p>
          <a:p>
            <a:r>
              <a:rPr sz="1400" b="0" i="0">
                <a:solidFill>
                  <a:srgbClr val="CDD6F4"/>
                </a:solidFill>
              </a:rPr>
              <a:t>Anthropic. "Effective harnesses for long-running agents." jan/2026.</a:t>
            </a:r>
          </a:p>
          <a:p>
            <a:r>
              <a:rPr sz="1400" b="0" i="0">
                <a:solidFill>
                  <a:srgbClr val="CDD6F4"/>
                </a:solidFill>
              </a:rPr>
              <a:t>Böckeler, B. "Harness engineering." martinfowler.com. fev/2026.</a:t>
            </a:r>
          </a:p>
          <a:p>
            <a:r>
              <a:rPr sz="1400" b="0" i="0">
                <a:solidFill>
                  <a:srgbClr val="CDD6F4"/>
                </a:solidFill>
              </a:rPr>
              <a:t>Osmani, A. "Agent Harness Engineering." O'Reilly Radar. mai/2026.</a:t>
            </a:r>
          </a:p>
          <a:p>
            <a:r>
              <a:rPr sz="1400" b="0" i="0">
                <a:solidFill>
                  <a:srgbClr val="CDD6F4"/>
                </a:solidFill>
              </a:rPr>
              <a:t>Weng, L. "Harness Engineering for Self-Improvement." Lil'Log. jul/2026. lilianweng.github.io/posts/2026-07-04-harness/</a:t>
            </a:r>
          </a:p>
          <a:p>
            <a:r>
              <a:rPr sz="1400" b="0" i="0">
                <a:solidFill>
                  <a:srgbClr val="CDD6F4"/>
                </a:solidFill>
              </a:rPr>
              <a:t>Masood et al. "'Harness Engineering' Emerges as the Fourth Paradigm of AI Engineering." TechTimes. mai/2026.</a:t>
            </a:r>
          </a:p>
          <a:p>
            <a:r>
              <a:rPr sz="1400" b="0" i="0">
                <a:solidFill>
                  <a:srgbClr val="CDD6F4"/>
                </a:solidFill>
              </a:rPr>
              <a:t>Manchikanti, K. "How 60 production agents actually self-improve." LinkedIn. 2026.</a:t>
            </a:r>
          </a:p>
          <a:p>
            <a:r>
              <a:rPr sz="1400" b="0" i="0">
                <a:solidFill>
                  <a:srgbClr val="CDD6F4"/>
                </a:solidFill>
              </a:rPr>
              <a:t>Ning et al. "Harness Engineering for Agentic AI Coding Tools." arXiv:2602.14690. 2026.</a:t>
            </a:r>
          </a:p>
          <a:p>
            <a:r>
              <a:rPr sz="1400" b="0" i="0">
                <a:solidFill>
                  <a:srgbClr val="CDD6F4"/>
                </a:solidFill>
              </a:rPr>
              <a:t>LangChain. "The Anatomy of an Agent Harness." mar/2026.</a:t>
            </a:r>
          </a:p>
          <a:p>
            <a:r>
              <a:rPr sz="1400" b="0" i="0">
                <a:solidFill>
                  <a:srgbClr val="CDD6F4"/>
                </a:solidFill>
              </a:rPr>
              <a:t>Addy Osmani / OpenAI. "Harness engineering: leveraging Codex in an agent-first world." 2026.</a:t>
            </a:r>
          </a:p>
          <a:p>
            <a:r>
              <a:rPr sz="1400" b="0" i="0">
                <a:solidFill>
                  <a:srgbClr val="CDD6F4"/>
                </a:solidFill>
              </a:rPr>
              <a:t>Nous Research. Hermes Agent v0.10 (abr/2026) → v0.13 Tenacity (mai/2026) → v0.21 (atual).</a:t>
            </a:r>
          </a:p>
          <a:p>
            <a:r>
              <a:rPr sz="1400" b="0" i="0">
                <a:solidFill>
                  <a:srgbClr val="CDD6F4"/>
                </a:solidFill>
              </a:rPr>
              <a:t>Zhang et al. "Agentic Context Engineering (ACE)." 2025.</a:t>
            </a:r>
          </a:p>
          <a:p>
            <a:r>
              <a:rPr sz="1400" b="0" i="0">
                <a:solidFill>
                  <a:srgbClr val="CDD6F4"/>
                </a:solidFill>
              </a:rPr>
              <a:t>Ye et al. "Meta Context Engineering (MCE)." 2026.</a:t>
            </a:r>
          </a:p>
          <a:p>
            <a:r>
              <a:rPr sz="1400" b="0" i="0">
                <a:solidFill>
                  <a:srgbClr val="CDD6F4"/>
                </a:solidFill>
              </a:rPr>
              <a:t>Lin et al. "Agentic Harness Engineering: Observability-Driven Automatic Evolution of Coding-Agent Harnesses." arXiv:2604.25850. 2026.</a:t>
            </a:r>
          </a:p>
          <a:p>
            <a:r>
              <a:rPr sz="1400" b="0" i="0">
                <a:solidFill>
                  <a:srgbClr val="CDD6F4"/>
                </a:solidFill>
              </a:rPr>
              <a:t>Hermes Agent docs. hermes-agent.nousresearch.com/docs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